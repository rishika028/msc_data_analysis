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282" r:id="rId7"/>
    <p:sldId id="281" r:id="rId8"/>
    <p:sldId id="307" r:id="rId9"/>
    <p:sldId id="315" r:id="rId10"/>
    <p:sldId id="297" r:id="rId11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62" d="100"/>
          <a:sy n="62" d="100"/>
        </p:scale>
        <p:origin x="828" y="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Customer Segmentation for a Digital Loan Provider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Feature Engineering</a:t>
            </a:r>
          </a:p>
          <a:p>
            <a:r>
              <a:rPr lang="en-US" dirty="0"/>
              <a:t>Clustering Technique </a:t>
            </a:r>
          </a:p>
          <a:p>
            <a:r>
              <a:rPr lang="en-US" dirty="0"/>
              <a:t>Customer Segmentation Analysis</a:t>
            </a:r>
          </a:p>
          <a:p>
            <a:r>
              <a:rPr lang="en-IN" dirty="0"/>
              <a:t>Strategic Roadmap &amp; Recommendations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significance of additional data :</a:t>
            </a:r>
          </a:p>
          <a:p>
            <a:r>
              <a:rPr lang="en-US" dirty="0"/>
              <a:t>Payment Ledger: It helps to track all transactions to ensure accurate reconciliation of payments and outstanding balances.</a:t>
            </a:r>
          </a:p>
          <a:p>
            <a:r>
              <a:rPr lang="en-US" dirty="0"/>
              <a:t>Repayment Ratio: It gives a better look into the financial discipline and serves as a good behavior measure.  </a:t>
            </a:r>
          </a:p>
          <a:p>
            <a:r>
              <a:rPr lang="en-US" dirty="0"/>
              <a:t>Average number of days to repay: It assesses repayment efficiency and customer’s liquidity.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1628173"/>
          </a:xfrm>
        </p:spPr>
        <p:txBody>
          <a:bodyPr/>
          <a:lstStyle/>
          <a:p>
            <a:r>
              <a:rPr lang="en-US" dirty="0"/>
              <a:t>Clustering Technique: </a:t>
            </a:r>
            <a:br>
              <a:rPr lang="en-US" dirty="0"/>
            </a:br>
            <a:r>
              <a:rPr lang="en-US" dirty="0"/>
              <a:t>K-Means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58704"/>
            <a:ext cx="5259554" cy="318328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en-US" dirty="0"/>
              <a:t>Since the data consists of some amount of overlap and outliers (e.g. zero repayment for whole year), hierarchal clustering didn’t perform well.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No. of Clusters were determined by: </a:t>
            </a:r>
          </a:p>
          <a:p>
            <a:r>
              <a:rPr lang="en-US" dirty="0"/>
              <a:t>	1.  Elbow Method</a:t>
            </a:r>
          </a:p>
          <a:p>
            <a:r>
              <a:rPr lang="en-US" dirty="0"/>
              <a:t>	2. Silhouette Score</a:t>
            </a:r>
          </a:p>
          <a:p>
            <a:endParaRPr lang="en-US" dirty="0"/>
          </a:p>
          <a:p>
            <a:r>
              <a:rPr lang="en-US" dirty="0"/>
              <a:t>3.    No. of Segments/ Clusters: 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BB8615-A880-1A52-3F6B-090B6A1E2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908" y="626561"/>
            <a:ext cx="3728391" cy="29591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BCAD2C-5507-E791-14DB-F90BBC521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600" y="4586135"/>
            <a:ext cx="5789796" cy="121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E85BD7-456E-3F73-7D5C-029C7FE8E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53542"/>
              </p:ext>
            </p:extLst>
          </p:nvPr>
        </p:nvGraphicFramePr>
        <p:xfrm>
          <a:off x="3729385" y="95929"/>
          <a:ext cx="7869056" cy="6508731"/>
        </p:xfrm>
        <a:graphic>
          <a:graphicData uri="http://schemas.openxmlformats.org/drawingml/2006/table">
            <a:tbl>
              <a:tblPr/>
              <a:tblGrid>
                <a:gridCol w="1659000">
                  <a:extLst>
                    <a:ext uri="{9D8B030D-6E8A-4147-A177-3AD203B41FA5}">
                      <a16:colId xmlns:a16="http://schemas.microsoft.com/office/drawing/2014/main" val="2497337110"/>
                    </a:ext>
                  </a:extLst>
                </a:gridCol>
                <a:gridCol w="3438692">
                  <a:extLst>
                    <a:ext uri="{9D8B030D-6E8A-4147-A177-3AD203B41FA5}">
                      <a16:colId xmlns:a16="http://schemas.microsoft.com/office/drawing/2014/main" val="3575979386"/>
                    </a:ext>
                  </a:extLst>
                </a:gridCol>
                <a:gridCol w="2771364">
                  <a:extLst>
                    <a:ext uri="{9D8B030D-6E8A-4147-A177-3AD203B41FA5}">
                      <a16:colId xmlns:a16="http://schemas.microsoft.com/office/drawing/2014/main" val="3991576669"/>
                    </a:ext>
                  </a:extLst>
                </a:gridCol>
              </a:tblGrid>
              <a:tr h="6065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Segment Name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Behavioural Characteristics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Business Interpretation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670092"/>
                  </a:ext>
                </a:extLst>
              </a:tr>
              <a:tr h="1034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Cluster 2: The Power Revolvers</a:t>
                      </a:r>
                    </a:p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High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num drawdowns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, high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repay within 1 day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They move huge amounts of money and have a near-perfect repayment ratio (0.94) and the fastest repayment speed.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77655"/>
                  </a:ext>
                </a:extLst>
              </a:tr>
              <a:tr h="1034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Cluster 3: The Steady Reliable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High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avg monthly drawdown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, High frequency (136 drawdowns); 1.02 repayment ratio.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The "Perfect" customer. They borrow frequently, and they pay back exactly what they take (plus a little extra, likely fees/interest).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179352"/>
                  </a:ext>
                </a:extLst>
              </a:tr>
              <a:tr h="1034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Cluster 1: The Emerging Users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Have </a:t>
                      </a:r>
                      <a:r>
                        <a:rPr lang="en-US" sz="1400" dirty="0">
                          <a:solidFill>
                            <a:srgbClr val="444746"/>
                          </a:solidFill>
                          <a:effectLst/>
                          <a:latin typeface="+mn-lt"/>
                        </a:rPr>
                        <a:t>successful applications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but low drawdown volume. Moderate activity; low repayment ratio (0.45)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They are borrowing more than they are paying back right now. They might be in a growth phase or newly onboarded.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81501"/>
                  </a:ext>
                </a:extLst>
              </a:tr>
              <a:tr h="12488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Cluster 0: The Slow Burners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Highest avg days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to_epay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 (126 days).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Low frequency and very slow to pay. They aren't necessarily "bad," but they have a very long capital cycle.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881123"/>
                  </a:ext>
                </a:extLst>
              </a:tr>
              <a:tr h="12488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Cluster 4: The Critical Outliers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Zero repayments; $13.8M pending balance.</a:t>
                      </a: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This cluster represents accounts that have borrowed massive amounts but have zero recorded repayments. These are either massive defaults or technical data errors.</a:t>
                      </a: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76234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CB8731-4174-125D-AFE1-0DB46C87D69B}"/>
              </a:ext>
            </a:extLst>
          </p:cNvPr>
          <p:cNvSpPr txBox="1"/>
          <p:nvPr/>
        </p:nvSpPr>
        <p:spPr>
          <a:xfrm rot="10800000" flipH="1" flipV="1">
            <a:off x="733371" y="807977"/>
            <a:ext cx="2365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Customer Segmentation Analysis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Strategic Roadmap &amp; Recommendations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459038" cy="37203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Retain &amp; Scale (Clusters 2 &amp; 3): </a:t>
            </a:r>
            <a:r>
              <a:rPr lang="en-US" dirty="0"/>
              <a:t>Increase credit limits for High-Velocity Whales. They are "safe" capital movers.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Optimize Liquidity (Cluster 0): </a:t>
            </a:r>
            <a:r>
              <a:rPr lang="en-US" dirty="0"/>
              <a:t>Introduce “Early Bird" discounts or shorter drawdown windows for Slow-Burners to unlock frozen capital.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Monitor &amp; Educate (Cluster 1): </a:t>
            </a:r>
            <a:r>
              <a:rPr lang="en-US" dirty="0"/>
              <a:t>Provide cash-flow dashboards to Emerging Growth merchants to help them reach a 1.0 repayment ratio.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Immediate Mitigation (Cluster 4):  </a:t>
            </a:r>
            <a:r>
              <a:rPr lang="en-US" dirty="0"/>
              <a:t>Action: Immediate "Circuit Breaker" on new lending. Conduct a manual audit to distinguish between technical data errors and genuine default risk.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Rishika Arora</a:t>
            </a:r>
          </a:p>
          <a:p>
            <a:r>
              <a:rPr lang="en-US" dirty="0"/>
              <a:t>rishikaarora028@gmail.com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{E79372F5-167F-4A93-95DB-2389E1CB983D}tf78438558_win32</Template>
  <TotalTime>169</TotalTime>
  <Words>480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Custom</vt:lpstr>
      <vt:lpstr>Customer Segmentation for a Digital Loan Provider</vt:lpstr>
      <vt:lpstr>agenda</vt:lpstr>
      <vt:lpstr>Feature Engineering</vt:lpstr>
      <vt:lpstr>Clustering Technique:  K-Means</vt:lpstr>
      <vt:lpstr>PowerPoint Presentation</vt:lpstr>
      <vt:lpstr>Strategic Roadmap &amp; Recommendations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Rishika Arora</dc:creator>
  <cp:lastModifiedBy>Rishika Arora</cp:lastModifiedBy>
  <cp:revision>1</cp:revision>
  <dcterms:created xsi:type="dcterms:W3CDTF">2026-04-21T14:15:54Z</dcterms:created>
  <dcterms:modified xsi:type="dcterms:W3CDTF">2026-04-21T17:05:47Z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